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Context slide for restraint and isolation, not suspension or expulsion. Those are not in this dataset. 2023–24 middle schools: 347 schools whose names contain middle and do not also say high school. Enrollment is the sum of school enrollments: 218,387 for all students, 32,147 for students with disabilities (14.7%). Published incidents: 1,325 all students, 1,176 students with disabilities (88.8%), 81 students without disabilities. The remaining 68 incidents are in all-students rows whose disability breakdown is suppressed. OSPI suppresses 2023–24 cells under 3 incidents, under 3 students, or under 10 enrolled, plus some cross-group cells. 2019–20 school sheets, middle schools with any incidents: restraint incidents 751 of 770 (97.5%) were students with disabilities; isolation incidents 490 of 507 (96.6%). Do not describe this as emotional/behavioral disability only.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972800" cy="292608"/>
          </a:xfrm>
          <a:prstGeom prst="rect">
            <a:avLst/>
          </a:prstGeom>
          <a:noFill/>
        </p:spPr>
        <p:txBody>
          <a:bodyPr wrap="square" lIns="0" rIns="0" tIns="0" bIns="0"/>
          <a:lstStyle/>
          <a:p>
            <a:pPr algn="l">
              <a:spcBef>
                <a:spcPts val="0"/>
              </a:spcBef>
              <a:spcAft>
                <a:spcPts val="0"/>
              </a:spcAft>
            </a:pPr>
            <a:r>
              <a:rPr sz="1300" b="1">
                <a:solidFill>
                  <a:srgbClr val="57534E"/>
                </a:solidFill>
                <a:latin typeface="Calibri"/>
              </a:rPr>
              <a:t>WASHINGTON MIDDLE SCHOOLS   ·   2023–24</a:t>
            </a:r>
          </a:p>
        </p:txBody>
      </p:sp>
      <p:sp>
        <p:nvSpPr>
          <p:cNvPr id="4" name="TextBox 3"/>
          <p:cNvSpPr txBox="1"/>
          <p:nvPr/>
        </p:nvSpPr>
        <p:spPr>
          <a:xfrm>
            <a:off x="640080" y="822960"/>
            <a:ext cx="10972800" cy="1417320"/>
          </a:xfrm>
          <a:prstGeom prst="rect">
            <a:avLst/>
          </a:prstGeom>
          <a:noFill/>
        </p:spPr>
        <p:txBody>
          <a:bodyPr wrap="square" lIns="0" rIns="0" tIns="0" bIns="0"/>
          <a:lstStyle/>
          <a:p>
            <a:pPr algn="l">
              <a:lnSpc>
                <a:spcPct val="100000"/>
              </a:lnSpc>
              <a:spcBef>
                <a:spcPts val="0"/>
              </a:spcBef>
              <a:spcAft>
                <a:spcPts val="0"/>
              </a:spcAft>
            </a:pPr>
            <a:r>
              <a:rPr sz="3200" b="1">
                <a:solidFill>
                  <a:srgbClr val="1C1917"/>
                </a:solidFill>
                <a:latin typeface="Calibri"/>
              </a:rPr>
              <a:t>Students with disabilities are 15% of enrollment</a:t>
            </a:r>
          </a:p>
          <a:p>
            <a:pPr algn="l">
              <a:lnSpc>
                <a:spcPct val="100000"/>
              </a:lnSpc>
              <a:spcBef>
                <a:spcPts val="0"/>
              </a:spcBef>
              <a:spcAft>
                <a:spcPts val="0"/>
              </a:spcAft>
            </a:pPr>
            <a:r>
              <a:rPr sz="3200" b="1">
                <a:solidFill>
                  <a:srgbClr val="1C1917"/>
                </a:solidFill>
                <a:latin typeface="Calibri"/>
              </a:rPr>
              <a:t>and 89% of restraint and isolation incidents.</a:t>
            </a:r>
          </a:p>
        </p:txBody>
      </p:sp>
      <p:sp>
        <p:nvSpPr>
          <p:cNvPr id="5" name="TextBox 4"/>
          <p:cNvSpPr txBox="1"/>
          <p:nvPr/>
        </p:nvSpPr>
        <p:spPr>
          <a:xfrm>
            <a:off x="640080" y="2606040"/>
            <a:ext cx="7498079" cy="292608"/>
          </a:xfrm>
          <a:prstGeom prst="rect">
            <a:avLst/>
          </a:prstGeom>
          <a:noFill/>
        </p:spPr>
        <p:txBody>
          <a:bodyPr wrap="square" lIns="0" rIns="0" tIns="0" bIns="0"/>
          <a:lstStyle/>
          <a:p>
            <a:pPr algn="l">
              <a:spcBef>
                <a:spcPts val="0"/>
              </a:spcBef>
              <a:spcAft>
                <a:spcPts val="0"/>
              </a:spcAft>
            </a:pPr>
            <a:r>
              <a:rPr sz="1600" b="1">
                <a:solidFill>
                  <a:srgbClr val="1C1917"/>
                </a:solidFill>
                <a:latin typeface="Calibri"/>
              </a:rPr>
              <a:t>Share of middle school enrollment</a:t>
            </a:r>
          </a:p>
        </p:txBody>
      </p:sp>
      <p:sp>
        <p:nvSpPr>
          <p:cNvPr id="6" name="TextBox 5"/>
          <p:cNvSpPr txBox="1"/>
          <p:nvPr/>
        </p:nvSpPr>
        <p:spPr>
          <a:xfrm>
            <a:off x="8138160" y="2606040"/>
            <a:ext cx="3383280" cy="292608"/>
          </a:xfrm>
          <a:prstGeom prst="rect">
            <a:avLst/>
          </a:prstGeom>
          <a:noFill/>
        </p:spPr>
        <p:txBody>
          <a:bodyPr wrap="square" lIns="0" rIns="0" tIns="0" bIns="0"/>
          <a:lstStyle/>
          <a:p>
            <a:pPr algn="r">
              <a:spcBef>
                <a:spcPts val="0"/>
              </a:spcBef>
              <a:spcAft>
                <a:spcPts val="0"/>
              </a:spcAft>
            </a:pPr>
            <a:r>
              <a:rPr sz="1600" b="0">
                <a:solidFill>
                  <a:srgbClr val="57534E"/>
                </a:solidFill>
                <a:latin typeface="Calibri"/>
              </a:rPr>
              <a:t>32,147 of 218,387 students</a:t>
            </a:r>
          </a:p>
        </p:txBody>
      </p:sp>
      <p:sp>
        <p:nvSpPr>
          <p:cNvPr id="7" name="Rectangle 6"/>
          <p:cNvSpPr/>
          <p:nvPr/>
        </p:nvSpPr>
        <p:spPr>
          <a:xfrm>
            <a:off x="640080" y="2971800"/>
            <a:ext cx="10881360" cy="384048"/>
          </a:xfrm>
          <a:prstGeom prst="rect">
            <a:avLst/>
          </a:prstGeom>
          <a:solidFill>
            <a:srgbClr val="E7E5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2971800"/>
            <a:ext cx="1601757" cy="384048"/>
          </a:xfrm>
          <a:prstGeom prst="rect">
            <a:avLst/>
          </a:prstGeom>
          <a:solidFill>
            <a:srgbClr val="1F4E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51565" y="3008376"/>
            <a:ext cx="1097280" cy="310896"/>
          </a:xfrm>
          <a:prstGeom prst="rect">
            <a:avLst/>
          </a:prstGeom>
          <a:noFill/>
        </p:spPr>
        <p:txBody>
          <a:bodyPr wrap="square" lIns="0" rIns="0" tIns="0" bIns="0"/>
          <a:lstStyle/>
          <a:p>
            <a:pPr algn="l">
              <a:spcBef>
                <a:spcPts val="0"/>
              </a:spcBef>
              <a:spcAft>
                <a:spcPts val="0"/>
              </a:spcAft>
            </a:pPr>
            <a:r>
              <a:rPr sz="1400" b="1">
                <a:solidFill>
                  <a:srgbClr val="1F4E5F"/>
                </a:solidFill>
                <a:latin typeface="Calibri"/>
              </a:rPr>
              <a:t>15%</a:t>
            </a:r>
          </a:p>
        </p:txBody>
      </p:sp>
      <p:sp>
        <p:nvSpPr>
          <p:cNvPr id="10" name="TextBox 9"/>
          <p:cNvSpPr txBox="1"/>
          <p:nvPr/>
        </p:nvSpPr>
        <p:spPr>
          <a:xfrm>
            <a:off x="640080" y="3886200"/>
            <a:ext cx="7498079" cy="292608"/>
          </a:xfrm>
          <a:prstGeom prst="rect">
            <a:avLst/>
          </a:prstGeom>
          <a:noFill/>
        </p:spPr>
        <p:txBody>
          <a:bodyPr wrap="square" lIns="0" rIns="0" tIns="0" bIns="0"/>
          <a:lstStyle/>
          <a:p>
            <a:pPr algn="l">
              <a:spcBef>
                <a:spcPts val="0"/>
              </a:spcBef>
              <a:spcAft>
                <a:spcPts val="0"/>
              </a:spcAft>
            </a:pPr>
            <a:r>
              <a:rPr sz="1600" b="1">
                <a:solidFill>
                  <a:srgbClr val="1C1917"/>
                </a:solidFill>
                <a:latin typeface="Calibri"/>
              </a:rPr>
              <a:t>Share of restraint and isolation incidents</a:t>
            </a:r>
          </a:p>
        </p:txBody>
      </p:sp>
      <p:sp>
        <p:nvSpPr>
          <p:cNvPr id="11" name="TextBox 10"/>
          <p:cNvSpPr txBox="1"/>
          <p:nvPr/>
        </p:nvSpPr>
        <p:spPr>
          <a:xfrm>
            <a:off x="8138160" y="3886200"/>
            <a:ext cx="3383280" cy="292608"/>
          </a:xfrm>
          <a:prstGeom prst="rect">
            <a:avLst/>
          </a:prstGeom>
          <a:noFill/>
        </p:spPr>
        <p:txBody>
          <a:bodyPr wrap="square" lIns="0" rIns="0" tIns="0" bIns="0"/>
          <a:lstStyle/>
          <a:p>
            <a:pPr algn="r">
              <a:spcBef>
                <a:spcPts val="0"/>
              </a:spcBef>
              <a:spcAft>
                <a:spcPts val="0"/>
              </a:spcAft>
            </a:pPr>
            <a:r>
              <a:rPr sz="1600" b="0">
                <a:solidFill>
                  <a:srgbClr val="57534E"/>
                </a:solidFill>
                <a:latin typeface="Calibri"/>
              </a:rPr>
              <a:t>1,176 of 1,325 incidents</a:t>
            </a:r>
          </a:p>
        </p:txBody>
      </p:sp>
      <p:sp>
        <p:nvSpPr>
          <p:cNvPr id="12" name="Rectangle 11"/>
          <p:cNvSpPr/>
          <p:nvPr/>
        </p:nvSpPr>
        <p:spPr>
          <a:xfrm>
            <a:off x="640080" y="4251960"/>
            <a:ext cx="10881360" cy="384048"/>
          </a:xfrm>
          <a:prstGeom prst="rect">
            <a:avLst/>
          </a:prstGeom>
          <a:solidFill>
            <a:srgbClr val="E7E5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0080" y="4251960"/>
            <a:ext cx="9657720" cy="384048"/>
          </a:xfrm>
          <a:prstGeom prst="rect">
            <a:avLst/>
          </a:prstGeom>
          <a:solidFill>
            <a:srgbClr val="1F4E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6384" y="4288536"/>
            <a:ext cx="1280160" cy="310896"/>
          </a:xfrm>
          <a:prstGeom prst="rect">
            <a:avLst/>
          </a:prstGeom>
          <a:noFill/>
        </p:spPr>
        <p:txBody>
          <a:bodyPr wrap="square" lIns="0" rIns="0" tIns="0" bIns="0"/>
          <a:lstStyle/>
          <a:p>
            <a:pPr algn="l">
              <a:spcBef>
                <a:spcPts val="0"/>
              </a:spcBef>
              <a:spcAft>
                <a:spcPts val="0"/>
              </a:spcAft>
            </a:pPr>
            <a:r>
              <a:rPr sz="1400" b="1">
                <a:solidFill>
                  <a:srgbClr val="FFFFFF"/>
                </a:solidFill>
                <a:latin typeface="Calibri"/>
              </a:rPr>
              <a:t>89%</a:t>
            </a:r>
          </a:p>
        </p:txBody>
      </p:sp>
      <p:sp>
        <p:nvSpPr>
          <p:cNvPr id="15" name="TextBox 14"/>
          <p:cNvSpPr txBox="1"/>
          <p:nvPr/>
        </p:nvSpPr>
        <p:spPr>
          <a:xfrm>
            <a:off x="640080" y="5349240"/>
            <a:ext cx="10881360" cy="640080"/>
          </a:xfrm>
          <a:prstGeom prst="rect">
            <a:avLst/>
          </a:prstGeom>
          <a:noFill/>
        </p:spPr>
        <p:txBody>
          <a:bodyPr wrap="square" lIns="0" rIns="0" tIns="0" bIns="0"/>
          <a:lstStyle/>
          <a:p>
            <a:pPr algn="l">
              <a:spcBef>
                <a:spcPts val="0"/>
              </a:spcBef>
              <a:spcAft>
                <a:spcPts val="0"/>
              </a:spcAft>
            </a:pPr>
            <a:r>
              <a:rPr sz="1500" b="0">
                <a:solidFill>
                  <a:srgbClr val="57534E"/>
                </a:solidFill>
                <a:latin typeface="Calibri"/>
              </a:rPr>
              <a:t>Students without disabilities account for 81 of those incidents. Another 68 are in schools where OSPI suppressed the disability count. The same pattern shows up in 2019–20, when counts of one and two were still published: 97% of middle school restraint incidents and 97% of isolation incidents involved students with disabilities.</a:t>
            </a:r>
          </a:p>
        </p:txBody>
      </p:sp>
      <p:sp>
        <p:nvSpPr>
          <p:cNvPr id="16" name="TextBox 15"/>
          <p:cNvSpPr txBox="1"/>
          <p:nvPr/>
        </p:nvSpPr>
        <p:spPr>
          <a:xfrm>
            <a:off x="640080" y="6263640"/>
            <a:ext cx="10881360" cy="365760"/>
          </a:xfrm>
          <a:prstGeom prst="rect">
            <a:avLst/>
          </a:prstGeom>
          <a:noFill/>
        </p:spPr>
        <p:txBody>
          <a:bodyPr wrap="square" lIns="0" rIns="0" tIns="0" bIns="0"/>
          <a:lstStyle/>
          <a:p>
            <a:pPr algn="l">
              <a:spcBef>
                <a:spcPts val="0"/>
              </a:spcBef>
              <a:spcAft>
                <a:spcPts val="0"/>
              </a:spcAft>
            </a:pPr>
            <a:r>
              <a:rPr sz="1200" b="0">
                <a:solidFill>
                  <a:srgbClr val="A8A29E"/>
                </a:solidFill>
                <a:latin typeface="Calibri"/>
              </a:rPr>
              <a:t>Source: OSPI restraint and isolation files, schools with “middle” in the name. “Students with disabilities” is the IDEA category, broader than an emotional or behavioral label. Counts under 3 incidents are suppressed in 2023–24.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Disability and restraint in Washington middle schools</dc:title>
  <dc:subject>Context slide, OSPI 2023-24</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