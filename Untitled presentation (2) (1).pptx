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hM8VAzHizf7Y8lEPtncLJAZudt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2a777d965b4a94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h2a777d965b4a94a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77240" y="205740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Beyond the label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77240" y="356616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Restorative alternatives to discipline in middle school.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777240" y="4800600"/>
            <a:ext cx="1920240" cy="54864"/>
          </a:xfrm>
          <a:prstGeom prst="rect">
            <a:avLst/>
          </a:prstGeom>
          <a:solidFill>
            <a:srgbClr val="1F4E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77240" y="5029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From pathologizing adolescent distress</a:t>
            </a:r>
            <a:r>
              <a:rPr lang="en-US"/>
              <a:t> </a:t>
            </a: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to classrooms built for repair and belonging.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2a777d965b4a94ab_0_1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h2a777d965b4a94ab_0_10"/>
          <p:cNvSpPr txBox="1"/>
          <p:nvPr/>
        </p:nvSpPr>
        <p:spPr>
          <a:xfrm>
            <a:off x="566928" y="329184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AN EXAMPLE</a:t>
            </a:r>
            <a:endParaRPr/>
          </a:p>
        </p:txBody>
      </p:sp>
      <p:sp>
        <p:nvSpPr>
          <p:cNvPr id="96" name="Google Shape;96;h2a777d965b4a94ab_0_10"/>
          <p:cNvSpPr txBox="1"/>
          <p:nvPr/>
        </p:nvSpPr>
        <p:spPr>
          <a:xfrm>
            <a:off x="713232" y="3529584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/>
          </a:p>
        </p:txBody>
      </p:sp>
      <p:pic>
        <p:nvPicPr>
          <p:cNvPr id="97" name="Google Shape;97;h2a777d965b4a94a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113" y="819150"/>
            <a:ext cx="5810250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CONTEXT  ·  2023–24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66928" y="621792"/>
            <a:ext cx="11064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Students with disabilities are 15% of enrollment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and 89% of restraint and isolation incidents.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66928" y="20574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Share of middle school enrollment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498079" y="2057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32,147 of 218,387 students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66928" y="2404872"/>
            <a:ext cx="11018520" cy="347472"/>
          </a:xfrm>
          <a:prstGeom prst="rect">
            <a:avLst/>
          </a:prstGeom>
          <a:solidFill>
            <a:srgbClr val="E4E0D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66928" y="2404872"/>
            <a:ext cx="1621948" cy="347472"/>
          </a:xfrm>
          <a:prstGeom prst="rect">
            <a:avLst/>
          </a:prstGeom>
          <a:solidFill>
            <a:srgbClr val="1F4E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2298604" y="243230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66928" y="315468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Share of restraint and isolation incidents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7498079" y="31546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1,176 of 1,325 incidents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66928" y="3502152"/>
            <a:ext cx="11018520" cy="347472"/>
          </a:xfrm>
          <a:prstGeom prst="rect">
            <a:avLst/>
          </a:prstGeom>
          <a:solidFill>
            <a:srgbClr val="E4E0D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66928" y="3502152"/>
            <a:ext cx="9779456" cy="347472"/>
          </a:xfrm>
          <a:prstGeom prst="rect">
            <a:avLst/>
          </a:prstGeom>
          <a:solidFill>
            <a:srgbClr val="1F4E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713232" y="352958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66928" y="4709160"/>
            <a:ext cx="11018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Students without disabilities account for 81 incidents. Another 68 sit in schools where the disability count was suppressed.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566928" y="5989320"/>
            <a:ext cx="11018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47C"/>
                </a:solidFill>
                <a:latin typeface="Calibri"/>
                <a:ea typeface="Calibri"/>
                <a:cs typeface="Calibri"/>
                <a:sym typeface="Calibri"/>
              </a:rPr>
              <a:t>OSPI, schools with “middle” in the name. “Students with disabilities” is the IDEA category, broader than an emotional or behavioral label. Counts under 3 incidents are suppressed in 2023–24.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66928" y="621792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Why are disabled students more likely to be suspended?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566928" y="2057400"/>
            <a:ext cx="3566160" cy="3520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22960" y="229514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822960" y="258775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Deficit mislabeling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822960" y="3429000"/>
            <a:ext cx="31089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Stereotypes and </a:t>
            </a:r>
            <a:r>
              <a:rPr lang="en-US" sz="15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lack of </a:t>
            </a: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training lead educators to read a sensory meltdown as defiance or threat. The behavior is </a:t>
            </a:r>
            <a:r>
              <a:rPr lang="en-US" sz="15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met with de-escalation, </a:t>
            </a:r>
            <a:r>
              <a:rPr lang="en-US" sz="15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vidence-based support, or a look at the cause.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4334256" y="2057400"/>
            <a:ext cx="3566160" cy="3520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590288" y="229514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4590288" y="258775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Rights going unmet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4590288" y="3429000"/>
            <a:ext cx="31089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IDEA and Section 504 require accommodations, positive behavioral supports, and the safeguards in an IEP or 504 plan. Schools </a:t>
            </a:r>
            <a:r>
              <a:rPr lang="en-US" sz="15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may </a:t>
            </a: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skip those duties and discipline students in ways that violate their rights.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8101584" y="2057400"/>
            <a:ext cx="3566160" cy="35204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357616" y="229514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8357616" y="258775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Pushout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8357616" y="3429000"/>
            <a:ext cx="31089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Suspension, expulsion, and removal cut disabled students off from learning. Minor incidents are handed to school resource officers, and referrals move students toward the school-to-prison pipeline.</a:t>
            </a:r>
            <a:endParaRPr/>
          </a:p>
        </p:txBody>
      </p:sp>
      <p:pic>
        <p:nvPicPr>
          <p:cNvPr id="136" name="Google Shape;13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100" y="255262"/>
            <a:ext cx="1857650" cy="15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566928" y="621792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middle school brain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66928" y="2103120"/>
            <a:ext cx="35661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22960" y="23408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822960" y="263347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Plasticity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822960" y="3474720"/>
            <a:ext cx="3108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Early adolescence is a period of rapid neural remodeling. The nervous system is highly sensitive to stress, perceived threat, and trauma.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334256" y="2103120"/>
            <a:ext cx="35661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590288" y="23408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4590288" y="263347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Executive function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4590288" y="3474720"/>
            <a:ext cx="3108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Working memory and cognitive flexibility fluctuate. When academic or sensory demand overloads them, dysregulation is a stress response, not willful defiance.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8101584" y="2103120"/>
            <a:ext cx="35661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8357616" y="23408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8357616" y="263347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Co-regulation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8357616" y="3474720"/>
            <a:ext cx="3108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Because the brain is this responsive, a calm adult in the room can lower fight-or-flight in the moment and build self-regulation over time.</a:t>
            </a:r>
            <a:endParaRPr/>
          </a:p>
        </p:txBody>
      </p:sp>
      <p:pic>
        <p:nvPicPr>
          <p:cNvPr id="156" name="Google Shape;15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6474" y="231850"/>
            <a:ext cx="1871276" cy="187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THE SHIFT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566928" y="62179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From “what is wrong with this student?”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to “what does this student need?”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66928" y="2057400"/>
            <a:ext cx="5394960" cy="3520440"/>
          </a:xfrm>
          <a:prstGeom prst="roundRect">
            <a:avLst>
              <a:gd fmla="val 8000" name="adj"/>
            </a:avLst>
          </a:prstGeom>
          <a:solidFill>
            <a:srgbClr val="F3EB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199632" y="2057400"/>
            <a:ext cx="5394960" cy="3520440"/>
          </a:xfrm>
          <a:prstGeom prst="roundRect">
            <a:avLst>
              <a:gd fmla="val 8000" name="adj"/>
            </a:avLst>
          </a:prstGeom>
          <a:solidFill>
            <a:srgbClr val="E6EE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859536" y="2313432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C4A32"/>
                </a:solidFill>
                <a:latin typeface="Calibri"/>
                <a:ea typeface="Calibri"/>
                <a:cs typeface="Calibri"/>
                <a:sym typeface="Calibri"/>
              </a:rPr>
              <a:t>TRADITIONAL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RESTORATIVE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859536" y="2697480"/>
            <a:ext cx="48097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Dysregulation is read as pathology: emotional disturbance, oppositional defiance.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problem is placed in the child: non-compliant, disruptive, unmotivated.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response is behavior modification, surveillance, and removal.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6492240" y="2697480"/>
            <a:ext cx="48097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Ross Greene: kids do well if they can. Behavior signals lagging skills and an unmet need.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DisCrit: racialized and ableist systems pathologize students. Change the barrier, not the child.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response is a changed environment, executive-function support, and repair.</a:t>
            </a:r>
            <a:endParaRPr/>
          </a:p>
        </p:txBody>
      </p:sp>
      <p:pic>
        <p:nvPicPr>
          <p:cNvPr id="170" name="Google Shape;17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562" y="4762124"/>
            <a:ext cx="2489676" cy="18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3762" y="4828774"/>
            <a:ext cx="2603275" cy="17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SAMHSA’S TRAUMA-INFORMED APPROACH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Safety is a condition for learning.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566928" y="13716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Chronic stress interrupts focus and self-regulation. Seclusion and restraint re-traumatize. With relational safety and the right support, students can recover.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66928" y="2468880"/>
            <a:ext cx="2697480" cy="2880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786384" y="269748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Realize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786384" y="3749039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Dysregulation is a survival response, not intentional defiance.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447288" y="2468880"/>
            <a:ext cx="2697480" cy="2880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3666744" y="269748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Recognize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3666744" y="3749039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Learn how trauma shows up by age, gender, and setting.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327648" y="2468880"/>
            <a:ext cx="2697480" cy="2880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6547104" y="269748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547104" y="3749039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Put the principle into policy, training, and the design of the room.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9208008" y="2468880"/>
            <a:ext cx="2697480" cy="2880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9427464" y="269748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Resist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re-traumatization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9427464" y="3749039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End seclusion and restraint that replay past harm.</a:t>
            </a:r>
            <a:endParaRPr/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3">
            <a:alphaModFix/>
          </a:blip>
          <a:srcRect b="58823" l="0" r="0" t="17224"/>
          <a:stretch/>
        </p:blipFill>
        <p:spPr>
          <a:xfrm>
            <a:off x="2512777" y="4639375"/>
            <a:ext cx="7172535" cy="215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IN THE ROOM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566928" y="621792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Four practices that keep students in the classroom.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566928" y="1965960"/>
            <a:ext cx="548640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841248" y="2221992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Predictable routines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841248" y="274320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Visual anchors lower the working-memory load and the anxiety of not knowing what comes next.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254496" y="1965960"/>
            <a:ext cx="548640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528816" y="2221992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Cool-down corners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6528816" y="2743200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A voluntary sensory reset inside the room, so regulation does not require removal.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66928" y="4178808"/>
            <a:ext cx="548640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841248" y="443484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2×10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841248" y="4956048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Two minutes of personal connection, for ten days in a row, before a crisis.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254496" y="4178808"/>
            <a:ext cx="5486400" cy="20116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6528816" y="443484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Asset-based notes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6528816" y="4956048"/>
            <a:ext cx="4983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In the IEP, name the unmet need. Do not write the behavior as a character flaw.</a:t>
            </a:r>
            <a:endParaRPr/>
          </a:p>
        </p:txBody>
      </p:sp>
      <p:pic>
        <p:nvPicPr>
          <p:cNvPr id="212" name="Google Shape;21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706" y="2816000"/>
            <a:ext cx="2936267" cy="19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BEYOND ONE CLASSROOM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566928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What the system has to change.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66928" y="1691640"/>
            <a:ext cx="11045952" cy="102412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822960" y="194767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1737360" y="185623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End isolation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1737360" y="2221992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Support the Washington effort to eliminate isolation booths.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66928" y="2862072"/>
            <a:ext cx="11045952" cy="102412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822960" y="3118104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1737360" y="3026664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Fund the training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1737360" y="3392424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Move discipline dollars into schoolwide restorative practice.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66928" y="4032504"/>
            <a:ext cx="11045952" cy="102412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822960" y="4288536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1737360" y="4197096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Call families first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737360" y="4562856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Learn home regulation strategies before a crisis, not after a write-up.</a:t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66928" y="5202936"/>
            <a:ext cx="11045952" cy="1024128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822960" y="5458968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1737360" y="5367528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Publish the disparity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1737360" y="5733288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Hold districts accountable for discipline rates among disabled students.</a:t>
            </a:r>
            <a:endParaRPr/>
          </a:p>
        </p:txBody>
      </p:sp>
      <p:pic>
        <p:nvPicPr>
          <p:cNvPr id="236" name="Google Shape;2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2000" y="0"/>
            <a:ext cx="2130875" cy="20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PARTNERSHIP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566928" y="621792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Families are experts, not recipients of notices.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66928" y="2103120"/>
            <a:ext cx="35661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822960" y="23408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822960" y="263347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Before the crisis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822960" y="3474720"/>
            <a:ext cx="3108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Ask families what already helps their child regulate, and what sets them off. Treat that knowledge as part of the plan.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334256" y="2103120"/>
            <a:ext cx="35661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4590288" y="23408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4590288" y="263347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How we write home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4590288" y="3474720"/>
            <a:ext cx="3108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Replace deficit incident reports with collaborative problem-solving. Families should be partners in repair.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101584" y="2103120"/>
            <a:ext cx="35661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8357616" y="23408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8357616" y="263347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Students at the table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8357616" y="3474720"/>
            <a:ext cx="3108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Middle schoolers help write their sensory-break plans, IEP accommodations, and community agreements.</a:t>
            </a:r>
            <a:endParaRPr/>
          </a:p>
        </p:txBody>
      </p:sp>
      <p:pic>
        <p:nvPicPr>
          <p:cNvPr id="256" name="Google Shape;25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450" y="4480025"/>
            <a:ext cx="6749701" cy="22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OUR CHARGE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777240" y="9601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Humanize the student</a:t>
            </a:r>
            <a:r>
              <a:rPr lang="en-US"/>
              <a:t> </a:t>
            </a:r>
            <a:r>
              <a:rPr b="1" i="0" lang="en-US" sz="4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in front of you.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777240" y="2880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Dismantle the pipeline</a:t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777240" y="326440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Stop using a diagnosis to justify seclusion, restraint, and pushout.</a:t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777240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Change the room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777240" y="440740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Replace surveillance with executive-function support, de-escalation, and repair.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777240" y="5166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Protect belonging</a:t>
            </a:r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777240" y="555040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Guard the dignity and agency of every disabled and neurodivergent student.</a:t>
            </a:r>
            <a:endParaRPr/>
          </a:p>
        </p:txBody>
      </p:sp>
      <p:pic>
        <p:nvPicPr>
          <p:cNvPr id="271" name="Google Shape;27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1575" y="3073113"/>
            <a:ext cx="3850101" cy="308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8075" y="-4950"/>
            <a:ext cx="3043600" cy="30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6F4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566928" y="1417320"/>
            <a:ext cx="539496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Office of Superintendent of Public Instruction. (2025). 2023–24 restraint and isolation data [Data set]. ospi.k12.wa.us/student-success/health-…r/restraint-and-isolation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The Education Trust. (2020, August 12). How school discipline disproportionately targets students with disabilities.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National Center for Learning Disabilities. (2020). Significant disproportionality in special education: Current trends and actions for impact. ncld.org/wp-content/uploads/2025/09…ity-in-Special-Education.pdf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Baglieri, S. (2023). Disability studies and the inclusive classroom: Critical practices for embracing diversity in education (3rd ed.). Routledge.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Disability Rights Washington &amp; American Civil Liberties Union of Washington. (2023). Coming into the light: An examination of restraint and isolation practices in Washington schools. disabilityrightswa.org/wp-content/uploads/…ation-Report-dist.pdf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Morris, M. W. (2016). Pushout: The criminalization of Black girls in schools. The New Press.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National Child Traumatic Stress Network. (2008). Child trauma toolkit for educators.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566928" y="329184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566928" y="62179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6217920" y="1417320"/>
            <a:ext cx="539496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Wood, C. (2015). Yardsticks: Children in the classroom, ages 4–14 (4th ed.). Center for Responsive Schools.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Ginwright, S. (2016). Hope and healing in urban education: How urban activists and teachers are reclaiming matters of the heart. Routledge.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Greene, R. W. (2008). Kids do well if they can. Phi Delta Kappan, 90(3), 160–167.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Greene, R. W. (2014). Lost at school: Why our kids with behavioral challenges are falling through the cracks and how we can help them. Scribner.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Annamma, S. A., Ferri, B. A., &amp; Connor, D. J. (Eds.). (2022). DisCrit expanded: Reverberations, ruptures, and inquiries. Teachers College Press.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Davis, D. R., &amp; Annamma, S. A. (2023). Disabling discipline: DisCrit, restorative justice, and anti-ableist schooling. Remedial and Special Education, 44(1), 18–29.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Substance Abuse and Mental Health Services Administration. (2014). SAMHSA’s concept of trauma and guidance for a trauma-informed approach (HHS Publication No. SMA 14-4884). U.S. Department of Health and Human Services.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Mendler, A. N. (2001). Connecting with students. Association for Supervision and Curriculum Development.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574F"/>
                </a:solidFill>
                <a:latin typeface="Calibri"/>
                <a:ea typeface="Calibri"/>
                <a:cs typeface="Calibri"/>
                <a:sym typeface="Calibri"/>
              </a:rPr>
              <a:t>Mingus, M. (2019). Transformative justice: A brief description. Leaving Evidence.</a:t>
            </a:r>
            <a:endParaRPr sz="1300">
              <a:solidFill>
                <a:srgbClr val="5C57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